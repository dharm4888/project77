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2" r:id="rId3"/>
    <p:sldId id="263" r:id="rId4"/>
    <p:sldId id="264" r:id="rId5"/>
    <p:sldId id="268" r:id="rId6"/>
    <p:sldId id="269" r:id="rId7"/>
    <p:sldId id="277" r:id="rId8"/>
    <p:sldId id="279" r:id="rId9"/>
    <p:sldId id="280" r:id="rId10"/>
    <p:sldId id="271" r:id="rId11"/>
    <p:sldId id="272" r:id="rId12"/>
    <p:sldId id="265" r:id="rId13"/>
    <p:sldId id="273" r:id="rId14"/>
    <p:sldId id="278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1DBABE-73E8-41D8-B8C5-AE5290445FC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94A89C3-E12D-4CA7-8A7D-D606E75B9223}">
      <dgm:prSet/>
      <dgm:spPr/>
      <dgm:t>
        <a:bodyPr/>
        <a:lstStyle/>
        <a:p>
          <a:pPr>
            <a:defRPr cap="all"/>
          </a:pPr>
          <a:r>
            <a:rPr lang="en-US" baseline="0" dirty="0"/>
            <a:t>BY:-Dharmendra Kumar</a:t>
          </a:r>
          <a:endParaRPr lang="en-US" dirty="0"/>
        </a:p>
      </dgm:t>
    </dgm:pt>
    <dgm:pt modelId="{DFC646CC-D596-4A5F-96CD-5DC526A89BDB}" type="parTrans" cxnId="{7C815A2D-3159-4FC5-A150-3D0862A41849}">
      <dgm:prSet/>
      <dgm:spPr/>
      <dgm:t>
        <a:bodyPr/>
        <a:lstStyle/>
        <a:p>
          <a:endParaRPr lang="en-US"/>
        </a:p>
      </dgm:t>
    </dgm:pt>
    <dgm:pt modelId="{B10C9E99-0959-41BD-A00A-59D1307FF766}" type="sibTrans" cxnId="{7C815A2D-3159-4FC5-A150-3D0862A41849}">
      <dgm:prSet/>
      <dgm:spPr/>
      <dgm:t>
        <a:bodyPr/>
        <a:lstStyle/>
        <a:p>
          <a:endParaRPr lang="en-US"/>
        </a:p>
      </dgm:t>
    </dgm:pt>
    <dgm:pt modelId="{F0902213-679F-4E0B-9B54-34DBDF4CC5F4}">
      <dgm:prSet/>
      <dgm:spPr/>
      <dgm:t>
        <a:bodyPr/>
        <a:lstStyle/>
        <a:p>
          <a:pPr>
            <a:defRPr cap="all"/>
          </a:pPr>
          <a:r>
            <a:rPr lang="en-US" baseline="0" dirty="0"/>
            <a:t>DATE:- July 2025</a:t>
          </a:r>
          <a:endParaRPr lang="en-US" dirty="0"/>
        </a:p>
      </dgm:t>
    </dgm:pt>
    <dgm:pt modelId="{AF0B2A90-BFB5-4975-B83F-B25FF4102680}" type="parTrans" cxnId="{2DDE862F-111B-49F7-BE81-DFAAF39EB634}">
      <dgm:prSet/>
      <dgm:spPr/>
      <dgm:t>
        <a:bodyPr/>
        <a:lstStyle/>
        <a:p>
          <a:endParaRPr lang="en-US"/>
        </a:p>
      </dgm:t>
    </dgm:pt>
    <dgm:pt modelId="{1572C197-3C2F-47D5-AB5C-6ABAFAC3D3B7}" type="sibTrans" cxnId="{2DDE862F-111B-49F7-BE81-DFAAF39EB634}">
      <dgm:prSet/>
      <dgm:spPr/>
      <dgm:t>
        <a:bodyPr/>
        <a:lstStyle/>
        <a:p>
          <a:endParaRPr lang="en-US"/>
        </a:p>
      </dgm:t>
    </dgm:pt>
    <dgm:pt modelId="{FAC6D80C-9DAB-47DE-B36E-B0F271B446F8}" type="pres">
      <dgm:prSet presAssocID="{7E1DBABE-73E8-41D8-B8C5-AE5290445FC0}" presName="root" presStyleCnt="0">
        <dgm:presLayoutVars>
          <dgm:dir/>
          <dgm:resizeHandles val="exact"/>
        </dgm:presLayoutVars>
      </dgm:prSet>
      <dgm:spPr/>
    </dgm:pt>
    <dgm:pt modelId="{D804DB89-BE6C-4E6C-9400-3E0FF99BBCDB}" type="pres">
      <dgm:prSet presAssocID="{194A89C3-E12D-4CA7-8A7D-D606E75B9223}" presName="compNode" presStyleCnt="0"/>
      <dgm:spPr/>
    </dgm:pt>
    <dgm:pt modelId="{9695AF85-419B-43B7-8CEA-615853351DFD}" type="pres">
      <dgm:prSet presAssocID="{194A89C3-E12D-4CA7-8A7D-D606E75B9223}" presName="iconBgRect" presStyleLbl="bgShp" presStyleIdx="0" presStyleCnt="2"/>
      <dgm:spPr/>
    </dgm:pt>
    <dgm:pt modelId="{2783DC7D-705D-4824-8400-885EEDBC0C06}" type="pres">
      <dgm:prSet presAssocID="{194A89C3-E12D-4CA7-8A7D-D606E75B922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ED47F17-05AF-43A6-856C-8914F0505187}" type="pres">
      <dgm:prSet presAssocID="{194A89C3-E12D-4CA7-8A7D-D606E75B9223}" presName="spaceRect" presStyleCnt="0"/>
      <dgm:spPr/>
    </dgm:pt>
    <dgm:pt modelId="{DE8A124F-97D5-4892-AF5D-9B941A531402}" type="pres">
      <dgm:prSet presAssocID="{194A89C3-E12D-4CA7-8A7D-D606E75B9223}" presName="textRect" presStyleLbl="revTx" presStyleIdx="0" presStyleCnt="2">
        <dgm:presLayoutVars>
          <dgm:chMax val="1"/>
          <dgm:chPref val="1"/>
        </dgm:presLayoutVars>
      </dgm:prSet>
      <dgm:spPr/>
    </dgm:pt>
    <dgm:pt modelId="{021C1357-A893-4818-A751-3040F81819A9}" type="pres">
      <dgm:prSet presAssocID="{B10C9E99-0959-41BD-A00A-59D1307FF766}" presName="sibTrans" presStyleCnt="0"/>
      <dgm:spPr/>
    </dgm:pt>
    <dgm:pt modelId="{EF31F99F-32C2-4079-82AB-6CB598CE0548}" type="pres">
      <dgm:prSet presAssocID="{F0902213-679F-4E0B-9B54-34DBDF4CC5F4}" presName="compNode" presStyleCnt="0"/>
      <dgm:spPr/>
    </dgm:pt>
    <dgm:pt modelId="{88551105-2707-449C-A2D6-ADB4E77FD517}" type="pres">
      <dgm:prSet presAssocID="{F0902213-679F-4E0B-9B54-34DBDF4CC5F4}" presName="iconBgRect" presStyleLbl="bgShp" presStyleIdx="1" presStyleCnt="2"/>
      <dgm:spPr/>
    </dgm:pt>
    <dgm:pt modelId="{709F8842-9932-4679-9897-4351A1C540E2}" type="pres">
      <dgm:prSet presAssocID="{F0902213-679F-4E0B-9B54-34DBDF4CC5F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4F64337B-37AA-4D1A-89DE-78687BA0BC1C}" type="pres">
      <dgm:prSet presAssocID="{F0902213-679F-4E0B-9B54-34DBDF4CC5F4}" presName="spaceRect" presStyleCnt="0"/>
      <dgm:spPr/>
    </dgm:pt>
    <dgm:pt modelId="{AA8E2985-9F52-4CA1-84D1-FEFEEF1A48FA}" type="pres">
      <dgm:prSet presAssocID="{F0902213-679F-4E0B-9B54-34DBDF4CC5F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7393C08-209A-4FA4-B4C4-029A26B6A7F5}" type="presOf" srcId="{7E1DBABE-73E8-41D8-B8C5-AE5290445FC0}" destId="{FAC6D80C-9DAB-47DE-B36E-B0F271B446F8}" srcOrd="0" destOrd="0" presId="urn:microsoft.com/office/officeart/2018/5/layout/IconCircleLabelList"/>
    <dgm:cxn modelId="{7C815A2D-3159-4FC5-A150-3D0862A41849}" srcId="{7E1DBABE-73E8-41D8-B8C5-AE5290445FC0}" destId="{194A89C3-E12D-4CA7-8A7D-D606E75B9223}" srcOrd="0" destOrd="0" parTransId="{DFC646CC-D596-4A5F-96CD-5DC526A89BDB}" sibTransId="{B10C9E99-0959-41BD-A00A-59D1307FF766}"/>
    <dgm:cxn modelId="{2DDE862F-111B-49F7-BE81-DFAAF39EB634}" srcId="{7E1DBABE-73E8-41D8-B8C5-AE5290445FC0}" destId="{F0902213-679F-4E0B-9B54-34DBDF4CC5F4}" srcOrd="1" destOrd="0" parTransId="{AF0B2A90-BFB5-4975-B83F-B25FF4102680}" sibTransId="{1572C197-3C2F-47D5-AB5C-6ABAFAC3D3B7}"/>
    <dgm:cxn modelId="{B5DB1834-C47B-40C8-B87C-8660158FFE86}" type="presOf" srcId="{F0902213-679F-4E0B-9B54-34DBDF4CC5F4}" destId="{AA8E2985-9F52-4CA1-84D1-FEFEEF1A48FA}" srcOrd="0" destOrd="0" presId="urn:microsoft.com/office/officeart/2018/5/layout/IconCircleLabelList"/>
    <dgm:cxn modelId="{ABABA35E-699E-417E-B604-B7342FFEF070}" type="presOf" srcId="{194A89C3-E12D-4CA7-8A7D-D606E75B9223}" destId="{DE8A124F-97D5-4892-AF5D-9B941A531402}" srcOrd="0" destOrd="0" presId="urn:microsoft.com/office/officeart/2018/5/layout/IconCircleLabelList"/>
    <dgm:cxn modelId="{36742BD3-9745-48E6-9FE5-E3EAB94770C7}" type="presParOf" srcId="{FAC6D80C-9DAB-47DE-B36E-B0F271B446F8}" destId="{D804DB89-BE6C-4E6C-9400-3E0FF99BBCDB}" srcOrd="0" destOrd="0" presId="urn:microsoft.com/office/officeart/2018/5/layout/IconCircleLabelList"/>
    <dgm:cxn modelId="{76AE409A-2B8D-47C8-BA9F-E459EB2F0D28}" type="presParOf" srcId="{D804DB89-BE6C-4E6C-9400-3E0FF99BBCDB}" destId="{9695AF85-419B-43B7-8CEA-615853351DFD}" srcOrd="0" destOrd="0" presId="urn:microsoft.com/office/officeart/2018/5/layout/IconCircleLabelList"/>
    <dgm:cxn modelId="{910F0270-5432-419A-BAF2-0516FA10855A}" type="presParOf" srcId="{D804DB89-BE6C-4E6C-9400-3E0FF99BBCDB}" destId="{2783DC7D-705D-4824-8400-885EEDBC0C06}" srcOrd="1" destOrd="0" presId="urn:microsoft.com/office/officeart/2018/5/layout/IconCircleLabelList"/>
    <dgm:cxn modelId="{84A581FB-0601-4BE1-BE02-2FBF68842415}" type="presParOf" srcId="{D804DB89-BE6C-4E6C-9400-3E0FF99BBCDB}" destId="{CED47F17-05AF-43A6-856C-8914F0505187}" srcOrd="2" destOrd="0" presId="urn:microsoft.com/office/officeart/2018/5/layout/IconCircleLabelList"/>
    <dgm:cxn modelId="{210521E2-8640-45E6-A777-229DA0935411}" type="presParOf" srcId="{D804DB89-BE6C-4E6C-9400-3E0FF99BBCDB}" destId="{DE8A124F-97D5-4892-AF5D-9B941A531402}" srcOrd="3" destOrd="0" presId="urn:microsoft.com/office/officeart/2018/5/layout/IconCircleLabelList"/>
    <dgm:cxn modelId="{336D0C13-7233-42EF-B41B-EC5875E88FED}" type="presParOf" srcId="{FAC6D80C-9DAB-47DE-B36E-B0F271B446F8}" destId="{021C1357-A893-4818-A751-3040F81819A9}" srcOrd="1" destOrd="0" presId="urn:microsoft.com/office/officeart/2018/5/layout/IconCircleLabelList"/>
    <dgm:cxn modelId="{BC61C366-502C-4C01-9DAB-DE01EECA3B39}" type="presParOf" srcId="{FAC6D80C-9DAB-47DE-B36E-B0F271B446F8}" destId="{EF31F99F-32C2-4079-82AB-6CB598CE0548}" srcOrd="2" destOrd="0" presId="urn:microsoft.com/office/officeart/2018/5/layout/IconCircleLabelList"/>
    <dgm:cxn modelId="{190D7E77-5A52-44EB-B8EF-B663AB4E956C}" type="presParOf" srcId="{EF31F99F-32C2-4079-82AB-6CB598CE0548}" destId="{88551105-2707-449C-A2D6-ADB4E77FD517}" srcOrd="0" destOrd="0" presId="urn:microsoft.com/office/officeart/2018/5/layout/IconCircleLabelList"/>
    <dgm:cxn modelId="{0D626631-D000-4040-ADAE-1B359DDDC663}" type="presParOf" srcId="{EF31F99F-32C2-4079-82AB-6CB598CE0548}" destId="{709F8842-9932-4679-9897-4351A1C540E2}" srcOrd="1" destOrd="0" presId="urn:microsoft.com/office/officeart/2018/5/layout/IconCircleLabelList"/>
    <dgm:cxn modelId="{E916F59E-8A7C-4B93-8E1F-486FE5DE44A3}" type="presParOf" srcId="{EF31F99F-32C2-4079-82AB-6CB598CE0548}" destId="{4F64337B-37AA-4D1A-89DE-78687BA0BC1C}" srcOrd="2" destOrd="0" presId="urn:microsoft.com/office/officeart/2018/5/layout/IconCircleLabelList"/>
    <dgm:cxn modelId="{790A05C0-EFD7-49AC-954F-6C176744CBA3}" type="presParOf" srcId="{EF31F99F-32C2-4079-82AB-6CB598CE0548}" destId="{AA8E2985-9F52-4CA1-84D1-FEFEEF1A48F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C6933C-276C-4A68-91D9-5A8D7C62E1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E13BB9C-3080-49A8-A578-8A6CF877AE3A}">
      <dgm:prSet/>
      <dgm:spPr/>
      <dgm:t>
        <a:bodyPr/>
        <a:lstStyle/>
        <a:p>
          <a:r>
            <a:rPr lang="en-US" b="1" i="0"/>
            <a:t>Datasets</a:t>
          </a:r>
          <a:endParaRPr lang="en-US"/>
        </a:p>
      </dgm:t>
    </dgm:pt>
    <dgm:pt modelId="{EBF521AD-B6DD-4299-9AFD-15A0C15AB60B}" type="parTrans" cxnId="{FC2F348A-66F7-437B-A399-E3266917AA19}">
      <dgm:prSet/>
      <dgm:spPr/>
      <dgm:t>
        <a:bodyPr/>
        <a:lstStyle/>
        <a:p>
          <a:endParaRPr lang="en-US"/>
        </a:p>
      </dgm:t>
    </dgm:pt>
    <dgm:pt modelId="{2FF9AF83-9CD4-486D-A6F3-EB9423059BC1}" type="sibTrans" cxnId="{FC2F348A-66F7-437B-A399-E3266917AA19}">
      <dgm:prSet/>
      <dgm:spPr/>
      <dgm:t>
        <a:bodyPr/>
        <a:lstStyle/>
        <a:p>
          <a:endParaRPr lang="en-US"/>
        </a:p>
      </dgm:t>
    </dgm:pt>
    <dgm:pt modelId="{B431EEA1-1A03-4DCB-B472-AD25FB1B4B67}">
      <dgm:prSet/>
      <dgm:spPr/>
      <dgm:t>
        <a:bodyPr/>
        <a:lstStyle/>
        <a:p>
          <a:r>
            <a:rPr lang="en-US"/>
            <a:t>Historical store sales</a:t>
          </a:r>
        </a:p>
      </dgm:t>
    </dgm:pt>
    <dgm:pt modelId="{D42E26E1-8C46-4D98-B1F1-965ECE0C1B49}" type="parTrans" cxnId="{6B9DF6F9-A138-4B5D-9284-9D7B11D03649}">
      <dgm:prSet/>
      <dgm:spPr/>
      <dgm:t>
        <a:bodyPr/>
        <a:lstStyle/>
        <a:p>
          <a:endParaRPr lang="en-US"/>
        </a:p>
      </dgm:t>
    </dgm:pt>
    <dgm:pt modelId="{5735014F-2384-41FB-956E-1DB7EBE61805}" type="sibTrans" cxnId="{6B9DF6F9-A138-4B5D-9284-9D7B11D03649}">
      <dgm:prSet/>
      <dgm:spPr/>
      <dgm:t>
        <a:bodyPr/>
        <a:lstStyle/>
        <a:p>
          <a:endParaRPr lang="en-US"/>
        </a:p>
      </dgm:t>
    </dgm:pt>
    <dgm:pt modelId="{92585359-09E3-4BFE-84D3-B763A98BB61C}">
      <dgm:prSet/>
      <dgm:spPr/>
      <dgm:t>
        <a:bodyPr/>
        <a:lstStyle/>
        <a:p>
          <a:r>
            <a:rPr lang="en-US"/>
            <a:t>Promotions </a:t>
          </a:r>
        </a:p>
      </dgm:t>
    </dgm:pt>
    <dgm:pt modelId="{8DE65934-90F9-4F04-B7A8-17882FDEA7AD}" type="parTrans" cxnId="{C8E48625-C46F-42CA-BBB8-C86CA8A6654D}">
      <dgm:prSet/>
      <dgm:spPr/>
      <dgm:t>
        <a:bodyPr/>
        <a:lstStyle/>
        <a:p>
          <a:endParaRPr lang="en-US"/>
        </a:p>
      </dgm:t>
    </dgm:pt>
    <dgm:pt modelId="{D25C9A3F-1ACE-46D6-9641-F3E7C32FBA60}" type="sibTrans" cxnId="{C8E48625-C46F-42CA-BBB8-C86CA8A6654D}">
      <dgm:prSet/>
      <dgm:spPr/>
      <dgm:t>
        <a:bodyPr/>
        <a:lstStyle/>
        <a:p>
          <a:endParaRPr lang="en-US"/>
        </a:p>
      </dgm:t>
    </dgm:pt>
    <dgm:pt modelId="{8FFFEBAD-C84A-4A82-904D-80F9154E0D56}">
      <dgm:prSet/>
      <dgm:spPr/>
      <dgm:t>
        <a:bodyPr/>
        <a:lstStyle/>
        <a:p>
          <a:r>
            <a:rPr lang="en-US"/>
            <a:t>Holidays </a:t>
          </a:r>
        </a:p>
      </dgm:t>
    </dgm:pt>
    <dgm:pt modelId="{B2EBEFA5-4DED-4743-BB18-7B7F00CB9EA5}" type="parTrans" cxnId="{EC82A808-9079-4C41-A960-EE99EC93B701}">
      <dgm:prSet/>
      <dgm:spPr/>
      <dgm:t>
        <a:bodyPr/>
        <a:lstStyle/>
        <a:p>
          <a:endParaRPr lang="en-US"/>
        </a:p>
      </dgm:t>
    </dgm:pt>
    <dgm:pt modelId="{B841045E-8D1E-4EB7-914A-B426617D8F72}" type="sibTrans" cxnId="{EC82A808-9079-4C41-A960-EE99EC93B701}">
      <dgm:prSet/>
      <dgm:spPr/>
      <dgm:t>
        <a:bodyPr/>
        <a:lstStyle/>
        <a:p>
          <a:endParaRPr lang="en-US"/>
        </a:p>
      </dgm:t>
    </dgm:pt>
    <dgm:pt modelId="{2E68120D-6FBF-4C3A-93BC-B26111095596}">
      <dgm:prSet/>
      <dgm:spPr/>
      <dgm:t>
        <a:bodyPr/>
        <a:lstStyle/>
        <a:p>
          <a:r>
            <a:rPr lang="en-US"/>
            <a:t>Assortment</a:t>
          </a:r>
        </a:p>
      </dgm:t>
    </dgm:pt>
    <dgm:pt modelId="{CD0F8BA6-01C1-4615-AB65-E5807F226C59}" type="parTrans" cxnId="{A51BE552-72E5-40CD-A088-8C36C63FCF02}">
      <dgm:prSet/>
      <dgm:spPr/>
      <dgm:t>
        <a:bodyPr/>
        <a:lstStyle/>
        <a:p>
          <a:endParaRPr lang="en-US"/>
        </a:p>
      </dgm:t>
    </dgm:pt>
    <dgm:pt modelId="{E8AAC30A-D007-434B-B34B-ADE000C39F48}" type="sibTrans" cxnId="{A51BE552-72E5-40CD-A088-8C36C63FCF02}">
      <dgm:prSet/>
      <dgm:spPr/>
      <dgm:t>
        <a:bodyPr/>
        <a:lstStyle/>
        <a:p>
          <a:endParaRPr lang="en-US"/>
        </a:p>
      </dgm:t>
    </dgm:pt>
    <dgm:pt modelId="{A3C0C722-DA8B-4ADB-942C-E7C4B76831D0}">
      <dgm:prSet/>
      <dgm:spPr/>
      <dgm:t>
        <a:bodyPr/>
        <a:lstStyle/>
        <a:p>
          <a:r>
            <a:rPr lang="en-US"/>
            <a:t>Competition.</a:t>
          </a:r>
        </a:p>
      </dgm:t>
    </dgm:pt>
    <dgm:pt modelId="{B0769B5E-C64E-47EE-AC68-705174C7AD22}" type="parTrans" cxnId="{35548D04-BD0C-449B-9CF6-519ABB875983}">
      <dgm:prSet/>
      <dgm:spPr/>
      <dgm:t>
        <a:bodyPr/>
        <a:lstStyle/>
        <a:p>
          <a:endParaRPr lang="en-US"/>
        </a:p>
      </dgm:t>
    </dgm:pt>
    <dgm:pt modelId="{FD05F0EE-DAE1-42C4-90D0-5B169238D47E}" type="sibTrans" cxnId="{35548D04-BD0C-449B-9CF6-519ABB875983}">
      <dgm:prSet/>
      <dgm:spPr/>
      <dgm:t>
        <a:bodyPr/>
        <a:lstStyle/>
        <a:p>
          <a:endParaRPr lang="en-US"/>
        </a:p>
      </dgm:t>
    </dgm:pt>
    <dgm:pt modelId="{EB37BF56-48D5-4E93-B8B3-11E9A156E1D6}" type="pres">
      <dgm:prSet presAssocID="{80C6933C-276C-4A68-91D9-5A8D7C62E1F4}" presName="linear" presStyleCnt="0">
        <dgm:presLayoutVars>
          <dgm:animLvl val="lvl"/>
          <dgm:resizeHandles val="exact"/>
        </dgm:presLayoutVars>
      </dgm:prSet>
      <dgm:spPr/>
    </dgm:pt>
    <dgm:pt modelId="{275C7BD1-C111-473D-AA13-FAF86FEA03DC}" type="pres">
      <dgm:prSet presAssocID="{9E13BB9C-3080-49A8-A578-8A6CF877AE3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A829C59E-627B-4449-9F46-83CAB1429E9B}" type="pres">
      <dgm:prSet presAssocID="{2FF9AF83-9CD4-486D-A6F3-EB9423059BC1}" presName="spacer" presStyleCnt="0"/>
      <dgm:spPr/>
    </dgm:pt>
    <dgm:pt modelId="{966E2547-FB62-4B34-8924-F95ECF2BEE33}" type="pres">
      <dgm:prSet presAssocID="{B431EEA1-1A03-4DCB-B472-AD25FB1B4B6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BF389C8-B1A1-49AB-B04B-2FBA0DB0466D}" type="pres">
      <dgm:prSet presAssocID="{5735014F-2384-41FB-956E-1DB7EBE61805}" presName="spacer" presStyleCnt="0"/>
      <dgm:spPr/>
    </dgm:pt>
    <dgm:pt modelId="{920F53F7-7E4A-4D9C-9E0C-7A86ED21A70E}" type="pres">
      <dgm:prSet presAssocID="{92585359-09E3-4BFE-84D3-B763A98BB61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B5A45F57-E6AD-4DB6-A4BD-33BB7556160C}" type="pres">
      <dgm:prSet presAssocID="{D25C9A3F-1ACE-46D6-9641-F3E7C32FBA60}" presName="spacer" presStyleCnt="0"/>
      <dgm:spPr/>
    </dgm:pt>
    <dgm:pt modelId="{DA14DFB0-9200-4113-8DC7-987DDCBAB0F9}" type="pres">
      <dgm:prSet presAssocID="{8FFFEBAD-C84A-4A82-904D-80F9154E0D5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BA2522C-8350-4976-B910-EC46BBA254C3}" type="pres">
      <dgm:prSet presAssocID="{B841045E-8D1E-4EB7-914A-B426617D8F72}" presName="spacer" presStyleCnt="0"/>
      <dgm:spPr/>
    </dgm:pt>
    <dgm:pt modelId="{C403CED3-28FA-4C59-B664-C0921478D16A}" type="pres">
      <dgm:prSet presAssocID="{2E68120D-6FBF-4C3A-93BC-B26111095596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955E3B9-867D-4875-B0C5-BEF6BBD2E623}" type="pres">
      <dgm:prSet presAssocID="{E8AAC30A-D007-434B-B34B-ADE000C39F48}" presName="spacer" presStyleCnt="0"/>
      <dgm:spPr/>
    </dgm:pt>
    <dgm:pt modelId="{4CA8E852-F49B-4C4B-BCC9-63EE52923AE8}" type="pres">
      <dgm:prSet presAssocID="{A3C0C722-DA8B-4ADB-942C-E7C4B76831D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5548D04-BD0C-449B-9CF6-519ABB875983}" srcId="{80C6933C-276C-4A68-91D9-5A8D7C62E1F4}" destId="{A3C0C722-DA8B-4ADB-942C-E7C4B76831D0}" srcOrd="5" destOrd="0" parTransId="{B0769B5E-C64E-47EE-AC68-705174C7AD22}" sibTransId="{FD05F0EE-DAE1-42C4-90D0-5B169238D47E}"/>
    <dgm:cxn modelId="{EC82A808-9079-4C41-A960-EE99EC93B701}" srcId="{80C6933C-276C-4A68-91D9-5A8D7C62E1F4}" destId="{8FFFEBAD-C84A-4A82-904D-80F9154E0D56}" srcOrd="3" destOrd="0" parTransId="{B2EBEFA5-4DED-4743-BB18-7B7F00CB9EA5}" sibTransId="{B841045E-8D1E-4EB7-914A-B426617D8F72}"/>
    <dgm:cxn modelId="{17D85109-DAB8-4DC4-9D40-13884A8DDCC1}" type="presOf" srcId="{80C6933C-276C-4A68-91D9-5A8D7C62E1F4}" destId="{EB37BF56-48D5-4E93-B8B3-11E9A156E1D6}" srcOrd="0" destOrd="0" presId="urn:microsoft.com/office/officeart/2005/8/layout/vList2"/>
    <dgm:cxn modelId="{D689480F-E074-4E89-8ED7-0D7C299DF129}" type="presOf" srcId="{9E13BB9C-3080-49A8-A578-8A6CF877AE3A}" destId="{275C7BD1-C111-473D-AA13-FAF86FEA03DC}" srcOrd="0" destOrd="0" presId="urn:microsoft.com/office/officeart/2005/8/layout/vList2"/>
    <dgm:cxn modelId="{C8E48625-C46F-42CA-BBB8-C86CA8A6654D}" srcId="{80C6933C-276C-4A68-91D9-5A8D7C62E1F4}" destId="{92585359-09E3-4BFE-84D3-B763A98BB61C}" srcOrd="2" destOrd="0" parTransId="{8DE65934-90F9-4F04-B7A8-17882FDEA7AD}" sibTransId="{D25C9A3F-1ACE-46D6-9641-F3E7C32FBA60}"/>
    <dgm:cxn modelId="{09F79827-888D-4B75-BD28-B033B5CB4180}" type="presOf" srcId="{B431EEA1-1A03-4DCB-B472-AD25FB1B4B67}" destId="{966E2547-FB62-4B34-8924-F95ECF2BEE33}" srcOrd="0" destOrd="0" presId="urn:microsoft.com/office/officeart/2005/8/layout/vList2"/>
    <dgm:cxn modelId="{A51BE552-72E5-40CD-A088-8C36C63FCF02}" srcId="{80C6933C-276C-4A68-91D9-5A8D7C62E1F4}" destId="{2E68120D-6FBF-4C3A-93BC-B26111095596}" srcOrd="4" destOrd="0" parTransId="{CD0F8BA6-01C1-4615-AB65-E5807F226C59}" sibTransId="{E8AAC30A-D007-434B-B34B-ADE000C39F48}"/>
    <dgm:cxn modelId="{FC2F348A-66F7-437B-A399-E3266917AA19}" srcId="{80C6933C-276C-4A68-91D9-5A8D7C62E1F4}" destId="{9E13BB9C-3080-49A8-A578-8A6CF877AE3A}" srcOrd="0" destOrd="0" parTransId="{EBF521AD-B6DD-4299-9AFD-15A0C15AB60B}" sibTransId="{2FF9AF83-9CD4-486D-A6F3-EB9423059BC1}"/>
    <dgm:cxn modelId="{C0800C9F-0C60-427A-9892-C90CA50381C1}" type="presOf" srcId="{2E68120D-6FBF-4C3A-93BC-B26111095596}" destId="{C403CED3-28FA-4C59-B664-C0921478D16A}" srcOrd="0" destOrd="0" presId="urn:microsoft.com/office/officeart/2005/8/layout/vList2"/>
    <dgm:cxn modelId="{3DDCB2A1-C3D1-4311-A111-0D3CCE19113C}" type="presOf" srcId="{8FFFEBAD-C84A-4A82-904D-80F9154E0D56}" destId="{DA14DFB0-9200-4113-8DC7-987DDCBAB0F9}" srcOrd="0" destOrd="0" presId="urn:microsoft.com/office/officeart/2005/8/layout/vList2"/>
    <dgm:cxn modelId="{DC7AF9E2-8E29-47D2-BF8B-E3893C3A7A21}" type="presOf" srcId="{92585359-09E3-4BFE-84D3-B763A98BB61C}" destId="{920F53F7-7E4A-4D9C-9E0C-7A86ED21A70E}" srcOrd="0" destOrd="0" presId="urn:microsoft.com/office/officeart/2005/8/layout/vList2"/>
    <dgm:cxn modelId="{EA6E1EF5-C8C3-4407-8FC2-46B78517540C}" type="presOf" srcId="{A3C0C722-DA8B-4ADB-942C-E7C4B76831D0}" destId="{4CA8E852-F49B-4C4B-BCC9-63EE52923AE8}" srcOrd="0" destOrd="0" presId="urn:microsoft.com/office/officeart/2005/8/layout/vList2"/>
    <dgm:cxn modelId="{6B9DF6F9-A138-4B5D-9284-9D7B11D03649}" srcId="{80C6933C-276C-4A68-91D9-5A8D7C62E1F4}" destId="{B431EEA1-1A03-4DCB-B472-AD25FB1B4B67}" srcOrd="1" destOrd="0" parTransId="{D42E26E1-8C46-4D98-B1F1-965ECE0C1B49}" sibTransId="{5735014F-2384-41FB-956E-1DB7EBE61805}"/>
    <dgm:cxn modelId="{BB49B6BF-3D04-4E14-93FE-C31A5F46FADF}" type="presParOf" srcId="{EB37BF56-48D5-4E93-B8B3-11E9A156E1D6}" destId="{275C7BD1-C111-473D-AA13-FAF86FEA03DC}" srcOrd="0" destOrd="0" presId="urn:microsoft.com/office/officeart/2005/8/layout/vList2"/>
    <dgm:cxn modelId="{F8F25585-3B8D-4EC8-BBC7-7FA2E65C64D1}" type="presParOf" srcId="{EB37BF56-48D5-4E93-B8B3-11E9A156E1D6}" destId="{A829C59E-627B-4449-9F46-83CAB1429E9B}" srcOrd="1" destOrd="0" presId="urn:microsoft.com/office/officeart/2005/8/layout/vList2"/>
    <dgm:cxn modelId="{9BC745CB-A63C-4275-8947-85D972A27CFD}" type="presParOf" srcId="{EB37BF56-48D5-4E93-B8B3-11E9A156E1D6}" destId="{966E2547-FB62-4B34-8924-F95ECF2BEE33}" srcOrd="2" destOrd="0" presId="urn:microsoft.com/office/officeart/2005/8/layout/vList2"/>
    <dgm:cxn modelId="{599E63E3-7C3B-4785-ACFF-0EA5CA837B5F}" type="presParOf" srcId="{EB37BF56-48D5-4E93-B8B3-11E9A156E1D6}" destId="{DBF389C8-B1A1-49AB-B04B-2FBA0DB0466D}" srcOrd="3" destOrd="0" presId="urn:microsoft.com/office/officeart/2005/8/layout/vList2"/>
    <dgm:cxn modelId="{AA14C7D9-24BC-4BB1-A4D5-96F6E8BC3CB7}" type="presParOf" srcId="{EB37BF56-48D5-4E93-B8B3-11E9A156E1D6}" destId="{920F53F7-7E4A-4D9C-9E0C-7A86ED21A70E}" srcOrd="4" destOrd="0" presId="urn:microsoft.com/office/officeart/2005/8/layout/vList2"/>
    <dgm:cxn modelId="{F78B7975-CE41-409E-9CE0-E38C0B489103}" type="presParOf" srcId="{EB37BF56-48D5-4E93-B8B3-11E9A156E1D6}" destId="{B5A45F57-E6AD-4DB6-A4BD-33BB7556160C}" srcOrd="5" destOrd="0" presId="urn:microsoft.com/office/officeart/2005/8/layout/vList2"/>
    <dgm:cxn modelId="{513E1AFA-1235-4899-AFAD-EAD8E483A5E6}" type="presParOf" srcId="{EB37BF56-48D5-4E93-B8B3-11E9A156E1D6}" destId="{DA14DFB0-9200-4113-8DC7-987DDCBAB0F9}" srcOrd="6" destOrd="0" presId="urn:microsoft.com/office/officeart/2005/8/layout/vList2"/>
    <dgm:cxn modelId="{2FFAE45A-1468-405D-BD5E-077930DAE060}" type="presParOf" srcId="{EB37BF56-48D5-4E93-B8B3-11E9A156E1D6}" destId="{6BA2522C-8350-4976-B910-EC46BBA254C3}" srcOrd="7" destOrd="0" presId="urn:microsoft.com/office/officeart/2005/8/layout/vList2"/>
    <dgm:cxn modelId="{7BBBD434-39F0-44F4-9792-6C958B6F0718}" type="presParOf" srcId="{EB37BF56-48D5-4E93-B8B3-11E9A156E1D6}" destId="{C403CED3-28FA-4C59-B664-C0921478D16A}" srcOrd="8" destOrd="0" presId="urn:microsoft.com/office/officeart/2005/8/layout/vList2"/>
    <dgm:cxn modelId="{55976D28-09AB-4AB1-AC71-345DF31DCD20}" type="presParOf" srcId="{EB37BF56-48D5-4E93-B8B3-11E9A156E1D6}" destId="{4955E3B9-867D-4875-B0C5-BEF6BBD2E623}" srcOrd="9" destOrd="0" presId="urn:microsoft.com/office/officeart/2005/8/layout/vList2"/>
    <dgm:cxn modelId="{10270DB7-E823-42C4-8469-A4CF68084DCD}" type="presParOf" srcId="{EB37BF56-48D5-4E93-B8B3-11E9A156E1D6}" destId="{4CA8E852-F49B-4C4B-BCC9-63EE52923AE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5AF85-419B-43B7-8CEA-615853351DFD}">
      <dsp:nvSpPr>
        <dsp:cNvPr id="0" name=""/>
        <dsp:cNvSpPr/>
      </dsp:nvSpPr>
      <dsp:spPr>
        <a:xfrm>
          <a:off x="1816199" y="93039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83DC7D-705D-4824-8400-885EEDBC0C06}">
      <dsp:nvSpPr>
        <dsp:cNvPr id="0" name=""/>
        <dsp:cNvSpPr/>
      </dsp:nvSpPr>
      <dsp:spPr>
        <a:xfrm>
          <a:off x="2284199" y="56103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8A124F-97D5-4892-AF5D-9B941A531402}">
      <dsp:nvSpPr>
        <dsp:cNvPr id="0" name=""/>
        <dsp:cNvSpPr/>
      </dsp:nvSpPr>
      <dsp:spPr>
        <a:xfrm>
          <a:off x="1114199" y="2973040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baseline="0" dirty="0"/>
            <a:t>BY:-Dharmendra Kumar</a:t>
          </a:r>
          <a:endParaRPr lang="en-US" sz="2500" kern="1200" dirty="0"/>
        </a:p>
      </dsp:txBody>
      <dsp:txXfrm>
        <a:off x="1114199" y="2973040"/>
        <a:ext cx="3600000" cy="720000"/>
      </dsp:txXfrm>
    </dsp:sp>
    <dsp:sp modelId="{88551105-2707-449C-A2D6-ADB4E77FD517}">
      <dsp:nvSpPr>
        <dsp:cNvPr id="0" name=""/>
        <dsp:cNvSpPr/>
      </dsp:nvSpPr>
      <dsp:spPr>
        <a:xfrm>
          <a:off x="6046199" y="93039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9F8842-9932-4679-9897-4351A1C540E2}">
      <dsp:nvSpPr>
        <dsp:cNvPr id="0" name=""/>
        <dsp:cNvSpPr/>
      </dsp:nvSpPr>
      <dsp:spPr>
        <a:xfrm>
          <a:off x="6514199" y="56103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E2985-9F52-4CA1-84D1-FEFEEF1A48FA}">
      <dsp:nvSpPr>
        <dsp:cNvPr id="0" name=""/>
        <dsp:cNvSpPr/>
      </dsp:nvSpPr>
      <dsp:spPr>
        <a:xfrm>
          <a:off x="5344199" y="2973040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baseline="0" dirty="0"/>
            <a:t>DATE:- July 2025</a:t>
          </a:r>
          <a:endParaRPr lang="en-US" sz="2500" kern="1200" dirty="0"/>
        </a:p>
      </dsp:txBody>
      <dsp:txXfrm>
        <a:off x="5344199" y="2973040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C7BD1-C111-473D-AA13-FAF86FEA03DC}">
      <dsp:nvSpPr>
        <dsp:cNvPr id="0" name=""/>
        <dsp:cNvSpPr/>
      </dsp:nvSpPr>
      <dsp:spPr>
        <a:xfrm>
          <a:off x="0" y="32804"/>
          <a:ext cx="493776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/>
            <a:t>Datasets</a:t>
          </a:r>
          <a:endParaRPr lang="en-US" sz="2500" kern="1200"/>
        </a:p>
      </dsp:txBody>
      <dsp:txXfrm>
        <a:off x="29271" y="62075"/>
        <a:ext cx="4879218" cy="541083"/>
      </dsp:txXfrm>
    </dsp:sp>
    <dsp:sp modelId="{966E2547-FB62-4B34-8924-F95ECF2BEE33}">
      <dsp:nvSpPr>
        <dsp:cNvPr id="0" name=""/>
        <dsp:cNvSpPr/>
      </dsp:nvSpPr>
      <dsp:spPr>
        <a:xfrm>
          <a:off x="0" y="704429"/>
          <a:ext cx="493776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Historical store sales</a:t>
          </a:r>
        </a:p>
      </dsp:txBody>
      <dsp:txXfrm>
        <a:off x="29271" y="733700"/>
        <a:ext cx="4879218" cy="541083"/>
      </dsp:txXfrm>
    </dsp:sp>
    <dsp:sp modelId="{920F53F7-7E4A-4D9C-9E0C-7A86ED21A70E}">
      <dsp:nvSpPr>
        <dsp:cNvPr id="0" name=""/>
        <dsp:cNvSpPr/>
      </dsp:nvSpPr>
      <dsp:spPr>
        <a:xfrm>
          <a:off x="0" y="1376054"/>
          <a:ext cx="493776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Promotions </a:t>
          </a:r>
        </a:p>
      </dsp:txBody>
      <dsp:txXfrm>
        <a:off x="29271" y="1405325"/>
        <a:ext cx="4879218" cy="541083"/>
      </dsp:txXfrm>
    </dsp:sp>
    <dsp:sp modelId="{DA14DFB0-9200-4113-8DC7-987DDCBAB0F9}">
      <dsp:nvSpPr>
        <dsp:cNvPr id="0" name=""/>
        <dsp:cNvSpPr/>
      </dsp:nvSpPr>
      <dsp:spPr>
        <a:xfrm>
          <a:off x="0" y="2047679"/>
          <a:ext cx="493776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Holidays </a:t>
          </a:r>
        </a:p>
      </dsp:txBody>
      <dsp:txXfrm>
        <a:off x="29271" y="2076950"/>
        <a:ext cx="4879218" cy="541083"/>
      </dsp:txXfrm>
    </dsp:sp>
    <dsp:sp modelId="{C403CED3-28FA-4C59-B664-C0921478D16A}">
      <dsp:nvSpPr>
        <dsp:cNvPr id="0" name=""/>
        <dsp:cNvSpPr/>
      </dsp:nvSpPr>
      <dsp:spPr>
        <a:xfrm>
          <a:off x="0" y="2719304"/>
          <a:ext cx="493776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Assortment</a:t>
          </a:r>
        </a:p>
      </dsp:txBody>
      <dsp:txXfrm>
        <a:off x="29271" y="2748575"/>
        <a:ext cx="4879218" cy="541083"/>
      </dsp:txXfrm>
    </dsp:sp>
    <dsp:sp modelId="{4CA8E852-F49B-4C4B-BCC9-63EE52923AE8}">
      <dsp:nvSpPr>
        <dsp:cNvPr id="0" name=""/>
        <dsp:cNvSpPr/>
      </dsp:nvSpPr>
      <dsp:spPr>
        <a:xfrm>
          <a:off x="0" y="3390929"/>
          <a:ext cx="493776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Competition.</a:t>
          </a:r>
        </a:p>
      </dsp:txBody>
      <dsp:txXfrm>
        <a:off x="29271" y="3420200"/>
        <a:ext cx="4879218" cy="541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06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5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218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89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8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63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3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642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0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2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6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C913B9A-BA80-4128-9082-D3A8C14B7AFB}" type="datetimeFigureOut">
              <a:rPr lang="en-US" smtClean="0"/>
              <a:pPr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D6EC39A-67E1-4AA5-BB6B-FCFA9BD3550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418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6758431-5EA6-5F23-2D04-946BD44C76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973405"/>
            <a:ext cx="10058400" cy="7639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NLP Project for Disaster Tweet Classification </a:t>
            </a:r>
            <a:endParaRPr lang="en-US" sz="4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12" name="Subtitle 9">
            <a:extLst>
              <a:ext uri="{FF2B5EF4-FFF2-40B4-BE49-F238E27FC236}">
                <a16:creationId xmlns:a16="http://schemas.microsoft.com/office/drawing/2014/main" id="{27C7F55E-D8FE-45BE-3A36-E441142B82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8160858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536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erson writing on a notepad">
            <a:extLst>
              <a:ext uri="{FF2B5EF4-FFF2-40B4-BE49-F238E27FC236}">
                <a16:creationId xmlns:a16="http://schemas.microsoft.com/office/drawing/2014/main" id="{F66E3D62-A0D9-CD90-701D-D48E6DE28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35" r="19851"/>
          <a:stretch>
            <a:fillRect/>
          </a:stretch>
        </p:blipFill>
        <p:spPr>
          <a:xfrm>
            <a:off x="20" y="10"/>
            <a:ext cx="4578952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5801E28-FB51-BCA8-E655-D714913E3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62" y="415746"/>
            <a:ext cx="6339840" cy="7024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E04ED6-2F88-0E7A-0146-E0C808105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206" y="1184636"/>
            <a:ext cx="6339840" cy="4704336"/>
          </a:xfrm>
        </p:spPr>
        <p:txBody>
          <a:bodyPr vert="horz" lIns="0" tIns="45720" rIns="0" bIns="45720" rtlCol="0">
            <a:normAutofit fontScale="92500" lnSpcReduction="20000"/>
          </a:bodyPr>
          <a:lstStyle/>
          <a:p>
            <a:pPr marL="0" indent="0">
              <a:buFont typeface="Calibri" panose="020F0502020204030204" pitchFamily="34" charset="0"/>
              <a:buNone/>
            </a:pPr>
            <a:endParaRPr lang="en-US" sz="1800" b="1" dirty="0">
              <a:solidFill>
                <a:srgbClr val="FFFFFF"/>
              </a:solidFill>
            </a:endParaRPr>
          </a:p>
          <a:p>
            <a:pPr marL="342900" indent="-342900">
              <a:buFont typeface="Calibri" panose="020F0502020204030204" pitchFamily="34" charset="0"/>
              <a:buChar char="Ø"/>
            </a:pPr>
            <a:r>
              <a:rPr lang="en-US" sz="1800" b="1" dirty="0">
                <a:solidFill>
                  <a:srgbClr val="FFFFFF"/>
                </a:solidFill>
              </a:rPr>
              <a:t>PROJECT OVERVIEW</a:t>
            </a:r>
          </a:p>
          <a:p>
            <a:pPr marL="342900" indent="-342900">
              <a:buFont typeface="Calibri" panose="020F0502020204030204" pitchFamily="34" charset="0"/>
              <a:buChar char="Ø"/>
            </a:pPr>
            <a:r>
              <a:rPr lang="en-US" sz="1800" b="1" dirty="0">
                <a:solidFill>
                  <a:srgbClr val="FFFFFF"/>
                </a:solidFill>
              </a:rPr>
              <a:t>DATA  ANALYSIS</a:t>
            </a:r>
          </a:p>
          <a:p>
            <a:pPr marL="342900" lvl="0" indent="-342900">
              <a:buFont typeface="Calibri" panose="020F0502020204030204" pitchFamily="34" charset="0"/>
              <a:buChar char="Ø"/>
            </a:pPr>
            <a:r>
              <a:rPr lang="en-US" sz="1800" b="1" dirty="0">
                <a:solidFill>
                  <a:srgbClr val="FFFFFF"/>
                </a:solidFill>
              </a:rPr>
              <a:t>EDA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US" sz="1800" b="1" dirty="0">
                <a:solidFill>
                  <a:srgbClr val="FFFFFF"/>
                </a:solidFill>
              </a:rPr>
              <a:t>Disaster Non- Disaster Tweet 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US" sz="1800" b="1" dirty="0">
                <a:solidFill>
                  <a:schemeClr val="tx1"/>
                </a:solidFill>
              </a:rPr>
              <a:t>Characters used in disaster and non-disaster tweet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US" sz="1800" b="1" dirty="0">
                <a:solidFill>
                  <a:srgbClr val="FFFFFF"/>
                </a:solidFill>
              </a:rPr>
              <a:t>Pair Plot</a:t>
            </a:r>
          </a:p>
          <a:p>
            <a:pPr marL="400050" lvl="0" indent="-400050">
              <a:buFont typeface="+mj-lt"/>
              <a:buAutoNum type="romanUcPeriod"/>
            </a:pPr>
            <a:r>
              <a:rPr lang="en-US" sz="1800" b="1" dirty="0">
                <a:solidFill>
                  <a:srgbClr val="FFFFFF"/>
                </a:solidFill>
              </a:rPr>
              <a:t>Correlation 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800" b="1" dirty="0">
                <a:solidFill>
                  <a:srgbClr val="FFFFFF"/>
                </a:solidFill>
              </a:rPr>
              <a:t>Disaster Word Cloud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800" b="1" dirty="0"/>
              <a:t>30 Most common words used in Non-Disaster Tweet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800" b="1" dirty="0"/>
              <a:t>30 Most common words used in Disaster Tweet</a:t>
            </a:r>
            <a:endParaRPr lang="en-US" sz="1800" b="1" dirty="0">
              <a:solidFill>
                <a:srgbClr val="FFFFFF"/>
              </a:solidFill>
            </a:endParaRPr>
          </a:p>
          <a:p>
            <a:pPr marL="342900" lvl="0" indent="-342900">
              <a:buFont typeface="Calibri" panose="020F0502020204030204" pitchFamily="34" charset="0"/>
              <a:buChar char="Ø"/>
            </a:pPr>
            <a:r>
              <a:rPr lang="en-US" sz="1800" b="1" dirty="0">
                <a:solidFill>
                  <a:srgbClr val="FFFFFF"/>
                </a:solidFill>
              </a:rPr>
              <a:t>DEEP LEARNING</a:t>
            </a:r>
          </a:p>
          <a:p>
            <a:pPr marL="342900" lvl="0" indent="-342900">
              <a:buFont typeface="Calibri" panose="020F0502020204030204" pitchFamily="34" charset="0"/>
              <a:buChar char="Ø"/>
            </a:pPr>
            <a:r>
              <a:rPr lang="en-US" sz="1800" b="1" dirty="0">
                <a:solidFill>
                  <a:srgbClr val="FFFFFF"/>
                </a:solidFill>
              </a:rPr>
              <a:t>APP.PY , HTML , Dashboard</a:t>
            </a:r>
          </a:p>
          <a:p>
            <a:pPr marL="0" indent="0">
              <a:buFont typeface="Calibri" panose="020F0502020204030204" pitchFamily="34" charset="0"/>
              <a:buNone/>
            </a:pP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0120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B4892C4-BBB6-4FA6-4A35-C9C2CA2FF44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92" b="1359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1027122-1D3D-F6ED-F463-4825328C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</a:t>
            </a:r>
          </a:p>
        </p:txBody>
      </p:sp>
      <p:sp>
        <p:nvSpPr>
          <p:cNvPr id="6" name="Content Placeholder 5" descr="Disa">
            <a:extLst>
              <a:ext uri="{FF2B5EF4-FFF2-40B4-BE49-F238E27FC236}">
                <a16:creationId xmlns:a16="http://schemas.microsoft.com/office/drawing/2014/main" id="{F03AAA6A-25D5-6501-43D3-AF09DD050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>
                <a:solidFill>
                  <a:schemeClr val="tx1"/>
                </a:solidFill>
              </a:rPr>
              <a:t>In today's digital age, social media platforms like Twitter play a crucial role in disseminating information, especially during emergencies and disasters. However, distinguishing between tweets that genuinely indicate a disaster and those that do not can be challenging, even for humans. As a result, there is growing interest from various organizations, such as disaster relief agencies and news outlets, in developing automated methods to monitor Twitter for real-time disaster alerts. </a:t>
            </a:r>
          </a:p>
        </p:txBody>
      </p:sp>
    </p:spTree>
    <p:extLst>
      <p:ext uri="{BB962C8B-B14F-4D97-AF65-F5344CB8AC3E}">
        <p14:creationId xmlns:p14="http://schemas.microsoft.com/office/powerpoint/2010/main" val="304573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06B7-E4A5-9B8E-1F7F-260DA90D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2340" y="574088"/>
            <a:ext cx="4162096" cy="977462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975B98CF-A8D1-55AF-776B-0148605BBE3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80270" y="1771822"/>
          <a:ext cx="4937760" cy="40233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9471F2-67A8-83E5-DF07-F0F84C564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3296" y="1740290"/>
            <a:ext cx="5162384" cy="4023360"/>
          </a:xfrm>
        </p:spPr>
        <p:txBody>
          <a:bodyPr>
            <a:normAutofit/>
          </a:bodyPr>
          <a:lstStyle/>
          <a:p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Field</a:t>
            </a:r>
            <a:endParaRPr lang="en-IN" sz="20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0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400" cap="all" dirty="0"/>
              <a:t>total record= 7613</a:t>
            </a:r>
            <a:endParaRPr lang="en-US" sz="1400" cap="all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cap="all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columns = 5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:-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keywords = 0.8% missing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Location = 33% missing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97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06B7-E4A5-9B8E-1F7F-260DA90D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89" y="675861"/>
            <a:ext cx="3084844" cy="102051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Disaster Non- Disaster Tweet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C65F3-3753-1C86-03CE-A804271BE413}"/>
              </a:ext>
            </a:extLst>
          </p:cNvPr>
          <p:cNvSpPr txBox="1"/>
          <p:nvPr/>
        </p:nvSpPr>
        <p:spPr>
          <a:xfrm>
            <a:off x="492371" y="2653800"/>
            <a:ext cx="3084844" cy="33355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Calibri" panose="020F0502020204030204" pitchFamily="34" charset="0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This Chart Shows that 57.16 % of  the total tweet are non- disaster tweet whereas 42.84 % Of the total tweet are non- disaster tweet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B2E60-F3DC-0ABA-9986-28F30394A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16238" y="1330092"/>
            <a:ext cx="4249639" cy="419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9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06B7-E4A5-9B8E-1F7F-260DA90D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9407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Characters used in disaster and non-disaster tweet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D8D6A-F07E-3CF8-E641-581EB4B4892E}"/>
              </a:ext>
            </a:extLst>
          </p:cNvPr>
          <p:cNvSpPr txBox="1"/>
          <p:nvPr/>
        </p:nvSpPr>
        <p:spPr>
          <a:xfrm>
            <a:off x="492371" y="1570384"/>
            <a:ext cx="3084844" cy="4253946"/>
          </a:xfrm>
          <a:prstGeom prst="rect">
            <a:avLst/>
          </a:prstGeom>
        </p:spPr>
        <p:txBody>
          <a:bodyPr vert="horz" lIns="0" tIns="45720" rIns="0" bIns="45720" rtlCol="0">
            <a:normAutofit fontScale="92500"/>
          </a:bodyPr>
          <a:lstStyle/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dirty="0"/>
              <a:t>Both types of tweets peak near </a:t>
            </a:r>
            <a:r>
              <a:rPr lang="en-US" b="1" dirty="0"/>
              <a:t>140 characters</a:t>
            </a:r>
            <a:r>
              <a:rPr lang="en-US" dirty="0"/>
              <a:t>, indicating users tend to use the full tweet length regardless of the topic.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b="1" dirty="0"/>
              <a:t>Disaster tweets (Red)</a:t>
            </a:r>
            <a:r>
              <a:rPr lang="en-US" dirty="0"/>
              <a:t> are more concentrated in the </a:t>
            </a:r>
            <a:r>
              <a:rPr lang="en-US" b="1" dirty="0"/>
              <a:t>60–140 character range</a:t>
            </a:r>
            <a:r>
              <a:rPr lang="en-US" dirty="0"/>
              <a:t>, showing higher density in longer tweets.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b="1" dirty="0"/>
              <a:t>Short tweets (&lt; 60 characters)</a:t>
            </a:r>
            <a:r>
              <a:rPr lang="en-US" dirty="0"/>
              <a:t> are more common among </a:t>
            </a:r>
            <a:r>
              <a:rPr lang="en-US" b="1" dirty="0"/>
              <a:t>non-disaster tweets</a:t>
            </a:r>
            <a:r>
              <a:rPr lang="en-US" dirty="0"/>
              <a:t>.</a:t>
            </a:r>
          </a:p>
          <a:p>
            <a:pPr marL="285750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en-US" dirty="0"/>
              <a:t>This suggests that </a:t>
            </a:r>
            <a:r>
              <a:rPr lang="en-US" b="1" dirty="0"/>
              <a:t>disaster-related tweets often contain more detailed content</a:t>
            </a:r>
            <a:r>
              <a:rPr lang="en-US" dirty="0"/>
              <a:t>, possibly including descriptions, locations, or emergency details.</a:t>
            </a: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989A3-22E8-8A83-8E89-0E61D5385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79584" y="1242391"/>
            <a:ext cx="6331226" cy="490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797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C76C9-5DFE-C6DC-E714-EAC5738A6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B5E1E-2F01-E302-D0B3-EDD5CEBCF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176246"/>
            <a:ext cx="3084844" cy="6162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Pair plot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19BA14-C15D-744B-55D0-22AA8B1A9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0235" y="447261"/>
            <a:ext cx="6669156" cy="60131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8BFAB6-C9A9-0F81-F1DC-0DF02C1640A9}"/>
              </a:ext>
            </a:extLst>
          </p:cNvPr>
          <p:cNvSpPr txBox="1"/>
          <p:nvPr/>
        </p:nvSpPr>
        <p:spPr>
          <a:xfrm>
            <a:off x="407504" y="1580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F84F2983-1EB0-9CCC-1727-DD8FAC278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784" y="1293628"/>
            <a:ext cx="3533955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num_characters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vs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There is a strong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correlation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As character count increases, word count also rises in both tweet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num_sentences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tweets contain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1–2 sentences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No major difference in sentence count between disaster and non-disaster tweets.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keyword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location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features 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and sparse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No clear distinction visible in this format — requires further preprocessing like encoding or grouping.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Disaster tweets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(orange) tend to have slightly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character and word counts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suggesting more detailed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Non-disaster tweets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(blue) are more frequent with lower values in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num_characters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4787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22184F-1BE5-C378-45D9-E358B3A17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8DB9-F6EE-9A09-7B64-F6C366D75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248478"/>
            <a:ext cx="3084844" cy="35780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Correlation</a:t>
            </a:r>
            <a:endParaRPr lang="en-US" sz="3600" b="1" i="0" dirty="0">
              <a:solidFill>
                <a:srgbClr val="FFFFFF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7F542-6FD1-43AF-8C71-7C36E7841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50296" y="705677"/>
            <a:ext cx="6589643" cy="5426765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2D80EF8-0519-BE95-D744-9E33EE771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36" y="884071"/>
            <a:ext cx="3737112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target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vs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num_characters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0.18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Weak positive correlation. Disaster tweets tend to be slightly longer in character 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target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vs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0.05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Very weak correlation. Word count alone does not strongly differentiate disaster from non-disaster tweets.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target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vs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num_sentences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-0.13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Slight negative correlation. Disaster tweets may be more concise in terms of sentence 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num_characters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vs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num_words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0.88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Strong positive correlation, as expected. Longer tweets have more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num_words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vs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num_sentences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Correlation =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0.29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Moderate relationship, suggesting sentence count grows modestly with word count.</a:t>
            </a:r>
          </a:p>
        </p:txBody>
      </p:sp>
    </p:spTree>
    <p:extLst>
      <p:ext uri="{BB962C8B-B14F-4D97-AF65-F5344CB8AC3E}">
        <p14:creationId xmlns:p14="http://schemas.microsoft.com/office/powerpoint/2010/main" val="1751138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1515A-1C13-CA90-E823-2DC29E487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FA15-F229-CD75-8CC2-55A2AF3F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958" y="268357"/>
            <a:ext cx="3356171" cy="90445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b="1" i="0" dirty="0">
                <a:solidFill>
                  <a:srgbClr val="FFFFFF"/>
                </a:solidFill>
                <a:effectLst/>
              </a:rPr>
              <a:t>Disaster Word</a:t>
            </a:r>
            <a:r>
              <a:rPr lang="en-US" sz="3600" b="1" dirty="0">
                <a:solidFill>
                  <a:srgbClr val="FFFFFF"/>
                </a:solidFill>
              </a:rPr>
              <a:t> </a:t>
            </a:r>
            <a:r>
              <a:rPr lang="en-US" sz="3600" b="1" i="0" dirty="0">
                <a:solidFill>
                  <a:srgbClr val="FFFFFF"/>
                </a:solidFill>
                <a:effectLst/>
              </a:rPr>
              <a:t>Cloud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8D368-9336-D31C-D576-2D3CC281D345}"/>
              </a:ext>
            </a:extLst>
          </p:cNvPr>
          <p:cNvSpPr txBox="1"/>
          <p:nvPr/>
        </p:nvSpPr>
        <p:spPr>
          <a:xfrm>
            <a:off x="492371" y="2653800"/>
            <a:ext cx="3084844" cy="33355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3"/>
              </a:buClr>
              <a:buFont typeface="Calibri" panose="020F0502020204030204" pitchFamily="34" charset="0"/>
            </a:pPr>
            <a:endParaRPr lang="en-US" sz="900"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57F8A-E0A7-B3C9-04BE-5E0109F7B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67739" y="538450"/>
            <a:ext cx="5774635" cy="5809266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50ADC623-3588-4242-F79B-0771DDC76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842" y="1150542"/>
            <a:ext cx="389522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word cloud highlights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frequent words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disaster-related tweets.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Prominent terms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🔥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🌊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🌪️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🚨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evacu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☠️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💣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bomb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suicid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bomber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people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words reflect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events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natural disasters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violent incidents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“amp”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“via”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“news”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common due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retweets and shared links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4577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AA783A-69AD-8F62-0156-53BDDC1E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1547" y="1269947"/>
            <a:ext cx="6798082" cy="431810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10A59DD4-19F7-36CC-90F8-7B290BF20B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08618" y="1498641"/>
            <a:ext cx="3433586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most frequent word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“http”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high number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links and shared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non-disaster tweets.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words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“like”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“get”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“love”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“video”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“time”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reflect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casual or social tone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unrelated to emergencies.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Words such 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“amp”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“via”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“new”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also appear frequently due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retweets and media sharing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few disaster-related words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“fire”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“burn”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“wreck”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 but are used in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non-emergency context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metaphors, sarcasm, or casual conversation).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C61978-8B4A-9B1B-0726-EC0778F5E1CE}"/>
              </a:ext>
            </a:extLst>
          </p:cNvPr>
          <p:cNvSpPr txBox="1"/>
          <p:nvPr/>
        </p:nvSpPr>
        <p:spPr>
          <a:xfrm>
            <a:off x="218270" y="190430"/>
            <a:ext cx="3603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30 Most common words used in Non-Disaster Tweet</a:t>
            </a:r>
          </a:p>
        </p:txBody>
      </p:sp>
    </p:spTree>
    <p:extLst>
      <p:ext uri="{BB962C8B-B14F-4D97-AF65-F5344CB8AC3E}">
        <p14:creationId xmlns:p14="http://schemas.microsoft.com/office/powerpoint/2010/main" val="2100797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505AC5-6991-8E03-2E54-B0FC6005B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8" r="2548"/>
          <a:stretch/>
        </p:blipFill>
        <p:spPr>
          <a:xfrm>
            <a:off x="4645053" y="1110342"/>
            <a:ext cx="6990487" cy="4386944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EAB19B1-3AAD-A6B7-8EC8-3C832D1F8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037" y="1343035"/>
            <a:ext cx="3603547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most frequent term is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“http”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that many disaster tweets include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links to news or emergency updates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High-frequency disaster-related words include: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🔥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💣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bomb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☠️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🚨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🚓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🌊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flood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🚆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crash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🌪️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emotionally charged or action-related terms like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“attack”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evacu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suicid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“fatal”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“burn”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common.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Mentions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 events/places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(e.g., “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hiroshima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”, “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california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”, “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wildfir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”) suggest real incidents being discussed.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5D959-1DFA-79A1-199D-77BBC3C05000}"/>
              </a:ext>
            </a:extLst>
          </p:cNvPr>
          <p:cNvSpPr txBox="1"/>
          <p:nvPr/>
        </p:nvSpPr>
        <p:spPr>
          <a:xfrm>
            <a:off x="218270" y="190430"/>
            <a:ext cx="3603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30 Most common words used in Disaster Tweet</a:t>
            </a:r>
          </a:p>
        </p:txBody>
      </p:sp>
    </p:spTree>
    <p:extLst>
      <p:ext uri="{BB962C8B-B14F-4D97-AF65-F5344CB8AC3E}">
        <p14:creationId xmlns:p14="http://schemas.microsoft.com/office/powerpoint/2010/main" val="2100797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A4A3-606C-0617-0132-B47664E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Deep Learning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6EA9AB-8650-EEAC-1D9A-D23605D20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1933" y="459676"/>
            <a:ext cx="3432885" cy="3299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8FE1E-8857-C17B-A0A3-56B4783FBC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36788" y="2751665"/>
            <a:ext cx="2798012" cy="350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67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9A4A3-606C-0617-0132-B47664E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Deep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BA691C-BBC2-FCB1-11B1-ACC7A7C9B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8565" y="546652"/>
            <a:ext cx="3328416" cy="31511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94ECEF-D67D-6DCE-5BFF-D92FFEE77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14098" y="2823560"/>
            <a:ext cx="2637080" cy="339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67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617A4-7BA9-6810-0EFB-4A222FDC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8C820-2A11-68F2-C6FF-FA953270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HTML , app.py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689B90-418B-388E-1B96-84F811D71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3" r="8723"/>
          <a:stretch/>
        </p:blipFill>
        <p:spPr>
          <a:xfrm>
            <a:off x="5128565" y="640080"/>
            <a:ext cx="3328416" cy="2663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2B3D9F-E72A-ADB8-02FE-D5E728B57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6" r="9786"/>
          <a:stretch/>
        </p:blipFill>
        <p:spPr>
          <a:xfrm>
            <a:off x="9246863" y="2780204"/>
            <a:ext cx="2171550" cy="3483864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D20F0CF-B611-7208-4119-0E242D2F0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076" y="4208988"/>
            <a:ext cx="3654966" cy="2157332"/>
          </a:xfrm>
          <a:prstGeom prst="rect">
            <a:avLst/>
          </a:prstGeom>
        </p:spPr>
      </p:pic>
      <p:pic>
        <p:nvPicPr>
          <p:cNvPr id="8" name="Picture 7" descr="A screenshot of a social media post&#10;&#10;AI-generated content may be incorrect.">
            <a:extLst>
              <a:ext uri="{FF2B5EF4-FFF2-40B4-BE49-F238E27FC236}">
                <a16:creationId xmlns:a16="http://schemas.microsoft.com/office/drawing/2014/main" id="{CD82534B-F6D9-171F-5801-9DEA0428F3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632" y="419762"/>
            <a:ext cx="3065357" cy="190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8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EE6B80-9CD0-FC6A-A642-D5C21EA1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754" y="639097"/>
            <a:ext cx="6253317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  <p:pic>
        <p:nvPicPr>
          <p:cNvPr id="10" name="Graphic 9" descr="Smiling Face with No Fill">
            <a:extLst>
              <a:ext uri="{FF2B5EF4-FFF2-40B4-BE49-F238E27FC236}">
                <a16:creationId xmlns:a16="http://schemas.microsoft.com/office/drawing/2014/main" id="{DBC0CB04-4D86-ACE1-FA4F-72B8F8AC4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163529"/>
            <a:ext cx="4001315" cy="400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6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6192</TotalTime>
  <Words>874</Words>
  <Application>Microsoft Office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Unicode MS</vt:lpstr>
      <vt:lpstr>Calibri</vt:lpstr>
      <vt:lpstr>Calibri Light</vt:lpstr>
      <vt:lpstr>Times New Roman</vt:lpstr>
      <vt:lpstr>Retrospect</vt:lpstr>
      <vt:lpstr>NLP Project for Disaster Tweet Classification </vt:lpstr>
      <vt:lpstr>Agenda</vt:lpstr>
      <vt:lpstr>Project Overview </vt:lpstr>
      <vt:lpstr>Data Analysis </vt:lpstr>
      <vt:lpstr>Disaster Non- Disaster Tweet</vt:lpstr>
      <vt:lpstr>Characters used in disaster and non-disaster tweet</vt:lpstr>
      <vt:lpstr>Pair plot</vt:lpstr>
      <vt:lpstr>Correlation</vt:lpstr>
      <vt:lpstr>Disaster Word Cloud</vt:lpstr>
      <vt:lpstr>PowerPoint Presentation</vt:lpstr>
      <vt:lpstr>PowerPoint Presentation</vt:lpstr>
      <vt:lpstr>Deep Learning</vt:lpstr>
      <vt:lpstr>Deep Learning</vt:lpstr>
      <vt:lpstr>HTML , app.py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CALCULATOR</dc:title>
  <dc:creator>Priyanshu Kumar</dc:creator>
  <cp:lastModifiedBy>Dharmendra Kumar</cp:lastModifiedBy>
  <cp:revision>35</cp:revision>
  <dcterms:created xsi:type="dcterms:W3CDTF">2024-11-19T04:14:04Z</dcterms:created>
  <dcterms:modified xsi:type="dcterms:W3CDTF">2025-07-30T09:47:08Z</dcterms:modified>
</cp:coreProperties>
</file>